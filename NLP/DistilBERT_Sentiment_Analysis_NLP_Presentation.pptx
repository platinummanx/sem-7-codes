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039" y="530387"/>
            <a:ext cx="6591611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Sentiment Classification Using Fine-Tuned DistilBERT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203" y="2796604"/>
            <a:ext cx="200141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221" y="2858159"/>
            <a:ext cx="25336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471" y="3537729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Sarthak Agrawal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111" y="3537729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2303002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471" y="4013217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Ahmad Ansari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111" y="4013217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2303009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471" y="4488705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Bhagat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111" y="4488705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2303020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471" y="4964193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 Bhardwaj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111" y="4964193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2303021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221" y="5621774"/>
            <a:ext cx="443931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Prof. Jayant Gadge </a:t>
            </a:r>
          </a:p>
        </p:txBody>
      </p:sp>
      <p:pic>
        <p:nvPicPr>
          <p:cNvPr id="22" name="Picture 21" descr="Sentiment Analysis Data Labeling">
            <a:extLst>
              <a:ext uri="{FF2B5EF4-FFF2-40B4-BE49-F238E27FC236}">
                <a16:creationId xmlns:a16="http://schemas.microsoft.com/office/drawing/2014/main" id="{735F010B-6818-4C92-3BF1-2A46EE8A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56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Input–Output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49525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Task: binary text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84832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classify an IMDb movie review as Positive or Negative from its text</a:t>
            </a:r>
            <a:r>
              <a:rPr sz="13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63824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sz="1700"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natural-language review, e.g. “The acting was brilliant and I loved it!”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42815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z="1700"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79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sentiment label (Positive / Negative) and confidence percentage.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21808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312664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sz="1700"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605272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analysis is slow at scale; automated classification helps summarize audience opinion.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66645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and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IMDb movie reviews loaded from Hugging Face: stanfordnlp/imdb. Labels: 0 = Negative, 1 = Positive.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008376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subset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00984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4,000 shuffled training reviews selected with seed 42: 2,015 Negative and 1,985 Positive.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96511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79975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reported evaluation used the full 25,000-review IMDb test split.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75504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58968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 a pretrained transformer, demonstrate five NLP experiments, and evaluate classification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Required NLP Preprocessing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83053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experiment is demonstrated separately in the notebook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3281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54137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Sentence boundary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6745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review text into sentences using NLTK sentence tokenization.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77681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868537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Tokenization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1145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text into word tokens using NLTK; DistilBERT also applies its own tokenizer.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2081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782937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Lemmatization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75545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words to dictionary base forms using WordNetLemmatizer.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06481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697337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Syntactic analysis </a:t>
            </a:r>
            <a:r>
              <a:rPr lang="en-US"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 tagging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9945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grammatical categories such as noun, verb, adjective, and adverb.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20881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611737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Semantic analysis </a:t>
            </a:r>
            <a:r>
              <a:rPr lang="en-US"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WordNet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04345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synonym sets and semantic relationships between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Choice: DistilBERT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052" y="1444538"/>
            <a:ext cx="442644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 pretrained transformer?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12" y="2084618"/>
            <a:ext cx="5029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Learns contextual meaning rather than treating words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12" y="2816138"/>
            <a:ext cx="5029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Pretrained model is adapted to sentiment labels through fine-tuning.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12" y="3547658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DistilBERT is a smaller, faster variant of BERT.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12" y="4279178"/>
            <a:ext cx="5029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Balances model capability with training and inference efficiency.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44538"/>
            <a:ext cx="5120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30338"/>
            <a:ext cx="1828800" cy="640080"/>
          </a:xfrm>
          <a:prstGeom prst="roundRect">
            <a:avLst/>
          </a:prstGeom>
          <a:solidFill>
            <a:srgbClr val="DAE7ED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39712" y="2320844"/>
            <a:ext cx="168249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130338"/>
            <a:ext cx="2377440" cy="640080"/>
          </a:xfrm>
          <a:prstGeom prst="roundRect">
            <a:avLst/>
          </a:prstGeom>
          <a:solidFill>
            <a:srgbClr val="D9F0F0"/>
          </a:solidFill>
          <a:ln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25712" y="2320844"/>
            <a:ext cx="223113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 tokenizer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319058"/>
            <a:ext cx="2377440" cy="640080"/>
          </a:xfrm>
          <a:prstGeom prst="roundRect">
            <a:avLst/>
          </a:prstGeom>
          <a:solidFill>
            <a:srgbClr val="D9F0F0"/>
          </a:solidFill>
          <a:ln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25712" y="3509564"/>
            <a:ext cx="223113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Fine-tuned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507778"/>
            <a:ext cx="2560320" cy="640080"/>
          </a:xfrm>
          <a:prstGeom prst="roundRect">
            <a:avLst/>
          </a:prstGeom>
          <a:solidFill>
            <a:srgbClr val="DAE7ED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9712" y="4698284"/>
            <a:ext cx="2414015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+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2450378"/>
            <a:ext cx="365760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1280" y="2816138"/>
            <a:ext cx="0" cy="45720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183880" y="3639098"/>
            <a:ext cx="822960" cy="82296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6560" y="555933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Classes: Negative (0) | Positive (1)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Fine-Tuning Workflow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0525"/>
            <a:ext cx="359508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training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6345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07201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99809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IMDb with Hugging Face Datasets; shuffle with seed 42; select 4,000 training examples.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30745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921601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Tokenize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4209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review text to input IDs and attention masks.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5145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836001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Fine-tune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28609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distilbert-base-uncased with a sequence-classification head.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9545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750401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3009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epoch • batch size 16 • learning rate 2e-5 • weight decay 0.01.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73945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664801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57409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with NVIDIA Tesla T4 GPU; Hugging Face Transformers and PyTorch.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2404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Sample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1141"/>
            <a:ext cx="5029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9781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Hugging Face Datasets </a:t>
            </a:r>
            <a:r>
              <a:rPr lang="en-US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IMDb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44141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Transformers + PyTorch </a:t>
            </a:r>
            <a:r>
              <a:rPr lang="en-US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fine-tuning and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38501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NLTK + WordNet </a:t>
            </a:r>
            <a:r>
              <a:rPr lang="en-US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32861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scikit-learn </a:t>
            </a:r>
            <a:r>
              <a:rPr lang="en-US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metrics and 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27221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Google Colab </a:t>
            </a:r>
            <a:r>
              <a:rPr lang="en-US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GPU training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1578126"/>
            <a:ext cx="5486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outputs from your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7" y="2126766"/>
            <a:ext cx="5486400" cy="1188720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8727" y="2218206"/>
            <a:ext cx="512064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“This movie was fantastic. The acting was brilliant and I loved it!”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839998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67D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0567" y="2839998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 94.87%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7" y="3525798"/>
            <a:ext cx="5486400" cy="1188720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8727" y="3617238"/>
            <a:ext cx="512064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movie was boring, badly written, and a complete waste of time.”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239030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7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0567" y="4239030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 94.19%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7" y="4924830"/>
            <a:ext cx="5486400" cy="1188720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78727" y="5016270"/>
            <a:ext cx="51206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“it was an interesting movie”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638062"/>
            <a:ext cx="2011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67D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0567" y="5638062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 90.28%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6427"/>
            <a:ext cx="49377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25,000-review test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0787"/>
            <a:ext cx="2148840" cy="941832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138803"/>
            <a:ext cx="1965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sz="1300" b="1">
              <a:solidFill>
                <a:srgbClr val="5365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40555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88.13%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10787"/>
            <a:ext cx="2148840" cy="941832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2138803"/>
            <a:ext cx="1965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40555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7795"/>
            <a:ext cx="2148840" cy="941832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3345811"/>
            <a:ext cx="1965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sz="1300" b="1">
              <a:solidFill>
                <a:srgbClr val="5365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647563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267D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217795"/>
            <a:ext cx="2148840" cy="941832"/>
          </a:xfrm>
          <a:prstGeom prst="roundRect">
            <a:avLst/>
          </a:prstGeom>
          <a:solidFill>
            <a:srgbClr val="F2F7FA"/>
          </a:solidFill>
          <a:ln>
            <a:solidFill>
              <a:srgbClr val="DA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08960" y="3345811"/>
            <a:ext cx="1965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47563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8E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6827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predictions: 22,033 / 25,000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416427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873627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75379"/>
            <a:ext cx="2057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sz="1100"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95560" y="2175379"/>
            <a:ext cx="2057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605147"/>
            <a:ext cx="868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sz="1000"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38160" y="2467987"/>
            <a:ext cx="1984248" cy="978407"/>
          </a:xfrm>
          <a:prstGeom prst="rect">
            <a:avLst/>
          </a:prstGeom>
          <a:solidFill>
            <a:srgbClr val="DEF1E7"/>
          </a:solidFill>
          <a:ln>
            <a:solidFill>
              <a:srgbClr val="DE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2" y="2559427"/>
            <a:ext cx="183794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endParaRPr sz="1100" b="1">
              <a:solidFill>
                <a:srgbClr val="5365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1312" y="2861179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11,018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2467987"/>
            <a:ext cx="1984248" cy="978407"/>
          </a:xfrm>
          <a:prstGeom prst="rect">
            <a:avLst/>
          </a:prstGeom>
          <a:solidFill>
            <a:srgbClr val="FAE5E5"/>
          </a:solidFill>
          <a:ln>
            <a:solidFill>
              <a:srgbClr val="FA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68712" y="2559427"/>
            <a:ext cx="183794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2861179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1,482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656707"/>
            <a:ext cx="868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519546"/>
            <a:ext cx="1984248" cy="978407"/>
          </a:xfrm>
          <a:prstGeom prst="rect">
            <a:avLst/>
          </a:prstGeom>
          <a:solidFill>
            <a:srgbClr val="FAE5E5"/>
          </a:solidFill>
          <a:ln>
            <a:solidFill>
              <a:srgbClr val="FA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11312" y="3610987"/>
            <a:ext cx="183794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sz="1100" b="1">
              <a:solidFill>
                <a:srgbClr val="5365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11312" y="3912739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1,485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3519546"/>
            <a:ext cx="1984248" cy="978407"/>
          </a:xfrm>
          <a:prstGeom prst="rect">
            <a:avLst/>
          </a:prstGeom>
          <a:solidFill>
            <a:srgbClr val="DEF1E7"/>
          </a:solidFill>
          <a:ln>
            <a:solidFill>
              <a:srgbClr val="DE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68712" y="3610987"/>
            <a:ext cx="183794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endParaRPr sz="1100" b="1">
              <a:solidFill>
                <a:srgbClr val="5365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268712" y="3912739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256907"/>
            <a:ext cx="52120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precision and recall indicate balanced performance across both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Interpretation, Challenges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46477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365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metrics tell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95487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886343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8951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88.13% accuracy means about 88 out of every 100 test reviews were classified correctly.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09887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2800743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93351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false positives and false negatives; sentiment can be nuanced.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724287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715143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07751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limits motivated fine-tuning on 4,000 reviews rather than the full training split.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638687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629543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22151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IMDb movie reviews are English and domain-specific; sarcasm and mixed sentiment remain difficult.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553087"/>
            <a:ext cx="128016" cy="603504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543943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36551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 hyperparameters, inspect errors, compare models, and test on another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hank You Background&quot; Images – Browse 10,961 Stock Photos, Vectors, and  Video | Adobe Stock">
            <a:extLst>
              <a:ext uri="{FF2B5EF4-FFF2-40B4-BE49-F238E27FC236}">
                <a16:creationId xmlns:a16="http://schemas.microsoft.com/office/drawing/2014/main" id="{049BA78A-4AF1-F2DF-208B-48DED11BE1B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58620"/>
            <a:ext cx="12191999" cy="70166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1352" y="3228945"/>
            <a:ext cx="5179423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6000" b="1">
                <a:solidFill>
                  <a:srgbClr val="142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6000" b="1">
              <a:solidFill>
                <a:srgbClr val="142A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0089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676</Words>
  <Application>Microsoft Office PowerPoint</Application>
  <PresentationFormat>Widescreen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Sunil Bhagat</dc:creator>
  <cp:keywords/>
  <dc:description>generated using python-pptx</dc:description>
  <cp:lastModifiedBy>Sunil Bhagat</cp:lastModifiedBy>
  <cp:revision>2</cp:revision>
  <dcterms:created xsi:type="dcterms:W3CDTF">2013-01-27T09:14:16Z</dcterms:created>
  <dcterms:modified xsi:type="dcterms:W3CDTF">2026-10-15T08:07:49Z</dcterms:modified>
  <cp:category/>
</cp:coreProperties>
</file>